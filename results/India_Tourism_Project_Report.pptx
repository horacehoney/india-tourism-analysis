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1520"/>
            <a:ext cx="2560320" cy="3200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ACADEMIC CAPSTONE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t>India Tourism Analytics &amp; Econometric Pipeline</a:t>
            </a:r>
          </a:p>
          <a:p>
            <a:pPr>
              <a:spcBef>
                <a:spcPts val="800"/>
              </a:spcBef>
              <a:defRPr sz="1800">
                <a:solidFill>
                  <a:srgbClr val="94A3B8"/>
                </a:solidFill>
                <a:latin typeface="Calibri"/>
              </a:defRPr>
            </a:pPr>
            <a:r>
              <a:t>End-to-End Data Engineering, Exploratory Profiling &amp; Econometric Modeling (2022–2026)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3108960"/>
            <a:ext cx="5120640" cy="301752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24612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97706"/>
                </a:solidFill>
                <a:latin typeface="Calibri"/>
              </a:defRPr>
            </a:pPr>
            <a:r>
              <a:t>PROJECT INFORMATION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4754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200">
                <a:solidFill>
                  <a:srgbClr val="E2E8F0"/>
                </a:solidFill>
              </a:rPr>
              <a:t>Industry Domain: </a:t>
            </a:r>
            <a:r>
              <a:rPr sz="1200">
                <a:solidFill>
                  <a:srgbClr val="94A3B8"/>
                </a:solidFill>
              </a:rPr>
              <a:t>Tourism &amp; Hospitality / Civil Aviation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E2E8F0"/>
                </a:solidFill>
              </a:rPr>
              <a:t>Focus Areas: </a:t>
            </a:r>
            <a:r>
              <a:rPr sz="1200">
                <a:solidFill>
                  <a:srgbClr val="94A3B8"/>
                </a:solidFill>
              </a:rPr>
              <a:t>District Footfall, Hospitality Infrastructure, Gateways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E2E8F0"/>
                </a:solidFill>
              </a:rPr>
              <a:t>Data Pipeline: </a:t>
            </a:r>
            <a:r>
              <a:rPr sz="1200">
                <a:solidFill>
                  <a:srgbClr val="94A3B8"/>
                </a:solidFill>
              </a:rPr>
              <a:t>Multi-Departmental Integration (MoT, NIDHI, ASI, AAI)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E2E8F0"/>
                </a:solidFill>
              </a:rPr>
              <a:t>Tools: </a:t>
            </a:r>
            <a:r>
              <a:rPr sz="1200">
                <a:solidFill>
                  <a:srgbClr val="94A3B8"/>
                </a:solidFill>
              </a:rPr>
              <a:t>Python, Pandas, NumPy, Matplotlib, Seaborn, SciPy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E2E8F0"/>
                </a:solidFill>
              </a:rPr>
              <a:t>Deliverables: </a:t>
            </a:r>
            <a:r>
              <a:rPr sz="1200">
                <a:solidFill>
                  <a:srgbClr val="94A3B8"/>
                </a:solidFill>
              </a:rPr>
              <a:t>Jupyter Pipeline, Visual Dashboards, Executive PDF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108960"/>
            <a:ext cx="5212080" cy="301752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324612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D9488"/>
                </a:solidFill>
                <a:latin typeface="Calibri"/>
              </a:defRPr>
            </a:pPr>
            <a:r>
              <a:t>CANDIDATE INFORMATION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3657600"/>
            <a:ext cx="4846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200">
                <a:solidFill>
                  <a:srgbClr val="E2E8F0"/>
                </a:solidFill>
              </a:rPr>
              <a:t>Student Name: </a:t>
            </a:r>
            <a:r>
              <a:rPr sz="1200">
                <a:solidFill>
                  <a:srgbClr val="34D399"/>
                </a:solidFill>
              </a:rPr>
              <a:t>Thillai valavan A S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E2E8F0"/>
                </a:solidFill>
              </a:rPr>
              <a:t>Student ID: </a:t>
            </a:r>
            <a:r>
              <a:rPr sz="1200">
                <a:solidFill>
                  <a:srgbClr val="94A3B8"/>
                </a:solidFill>
              </a:rPr>
              <a:t>AF05309210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E2E8F0"/>
                </a:solidFill>
              </a:rPr>
              <a:t>Organization: </a:t>
            </a:r>
            <a:r>
              <a:rPr sz="1200">
                <a:solidFill>
                  <a:srgbClr val="94A3B8"/>
                </a:solidFill>
              </a:rPr>
              <a:t>Anudip Foundation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E2E8F0"/>
                </a:solidFill>
              </a:rPr>
              <a:t>Program / Course: </a:t>
            </a:r>
            <a:r>
              <a:rPr sz="1200">
                <a:solidFill>
                  <a:srgbClr val="94A3B8"/>
                </a:solidFill>
              </a:rPr>
              <a:t>Artificial Intelligence &amp; Machine Learning (AIML)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E2E8F0"/>
                </a:solidFill>
              </a:rPr>
              <a:t>Batch Code: </a:t>
            </a:r>
            <a:r>
              <a:rPr sz="1200">
                <a:solidFill>
                  <a:srgbClr val="94A3B8"/>
                </a:solidFill>
              </a:rPr>
              <a:t>ANP-D7444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292608"/>
          </a:xfrm>
          <a:prstGeom prst="round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INDUSTRY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Industry Overview: Indian Tourism, Hospitality &amp; Civil Aviation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36576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0D9488"/>
                </a:solidFill>
                <a:latin typeface="Calibri"/>
              </a:defRPr>
            </a:pPr>
            <a:r>
              <a:t>02 / 12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3328416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0200"/>
            <a:ext cx="296265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563EB"/>
                </a:solidFill>
                <a:latin typeface="Calibri"/>
              </a:defRPr>
            </a:pPr>
            <a:r>
              <a:t>1. Industry Scale &amp; Ecosystem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2962656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100">
                <a:solidFill>
                  <a:srgbClr val="0F172A"/>
                </a:solidFill>
              </a:rPr>
              <a:t>• National Economic Pillar: </a:t>
            </a:r>
            <a:r>
              <a:rPr sz="1100">
                <a:solidFill>
                  <a:srgbClr val="475569"/>
                </a:solidFill>
              </a:rPr>
              <a:t>Contributes ~6.8% to India's GDP and supports over 40 million direct and indirect livelihoods across diverse supply chains.</a:t>
            </a:r>
          </a:p>
          <a:p>
            <a:pPr>
              <a:spcAft>
                <a:spcPts val="1200"/>
              </a:spcAft>
            </a:pPr>
            <a:r>
              <a:rPr b="1" sz="1100">
                <a:solidFill>
                  <a:srgbClr val="0F172A"/>
                </a:solidFill>
              </a:rPr>
              <a:t>• Multi-Tier Ecosystem: </a:t>
            </a:r>
            <a:r>
              <a:rPr sz="1100">
                <a:solidFill>
                  <a:srgbClr val="475569"/>
                </a:solidFill>
              </a:rPr>
              <a:t>Encompasses domestic pilgrimage circuits, heritage monuments, eco-reserves, classified hotels, and civil aviation corridors.</a:t>
            </a:r>
          </a:p>
          <a:p>
            <a:pPr>
              <a:spcAft>
                <a:spcPts val="1200"/>
              </a:spcAft>
            </a:pPr>
            <a:r>
              <a:rPr b="1" sz="1100">
                <a:solidFill>
                  <a:srgbClr val="0F172A"/>
                </a:solidFill>
              </a:rPr>
              <a:t>• Post-Pandemic Rebound: </a:t>
            </a:r>
            <a:r>
              <a:rPr sz="1100">
                <a:solidFill>
                  <a:srgbClr val="475569"/>
                </a:solidFill>
              </a:rPr>
              <a:t>Exhibits strong double-digit recovery in foreign tourist arrivals (FTAs) and domestic tourist visits (DTVs) through 2026.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25696" y="1463040"/>
            <a:ext cx="3328416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08576" y="1600200"/>
            <a:ext cx="296265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D9488"/>
                </a:solidFill>
                <a:latin typeface="Calibri"/>
              </a:defRPr>
            </a:pPr>
            <a:r>
              <a:t>2. Role of Data Analytics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08576" y="2011680"/>
            <a:ext cx="2962656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100">
                <a:solidFill>
                  <a:srgbClr val="0F172A"/>
                </a:solidFill>
              </a:rPr>
              <a:t>• Evidence-Based Planning: </a:t>
            </a:r>
            <a:r>
              <a:rPr sz="1100">
                <a:solidFill>
                  <a:srgbClr val="475569"/>
                </a:solidFill>
              </a:rPr>
              <a:t>Shifts tourism administration from historical intuition to real-time, empirical demand forecasting and resource allocation.</a:t>
            </a:r>
          </a:p>
          <a:p>
            <a:pPr>
              <a:spcAft>
                <a:spcPts val="1200"/>
              </a:spcAft>
            </a:pPr>
            <a:r>
              <a:rPr b="1" sz="1100">
                <a:solidFill>
                  <a:srgbClr val="0F172A"/>
                </a:solidFill>
              </a:rPr>
              <a:t>• Capacity Smoothing: </a:t>
            </a:r>
            <a:r>
              <a:rPr sz="1100">
                <a:solidFill>
                  <a:srgbClr val="475569"/>
                </a:solidFill>
              </a:rPr>
              <a:t>Enables hoteliers and civil aviation operators to mitigate extreme seasonal fluctuations and airport congestion.</a:t>
            </a:r>
          </a:p>
          <a:p>
            <a:pPr>
              <a:spcAft>
                <a:spcPts val="1200"/>
              </a:spcAft>
            </a:pPr>
            <a:r>
              <a:rPr b="1" sz="1100">
                <a:solidFill>
                  <a:srgbClr val="0F172A"/>
                </a:solidFill>
              </a:rPr>
              <a:t>• Foreign Exchange Maximization: </a:t>
            </a:r>
            <a:r>
              <a:rPr sz="1100">
                <a:solidFill>
                  <a:srgbClr val="475569"/>
                </a:solidFill>
              </a:rPr>
              <a:t>Identifies high-velocity source geographies to optimize international marketing spend and visa facilitation policies.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19872" y="1463040"/>
            <a:ext cx="3328416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02752" y="1600200"/>
            <a:ext cx="296265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97706"/>
                </a:solidFill>
                <a:latin typeface="Calibri"/>
              </a:defRPr>
            </a:pPr>
            <a:r>
              <a:t>3. Emerging Dynamics (2022–2026)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02752" y="2011680"/>
            <a:ext cx="2962656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100">
                <a:solidFill>
                  <a:srgbClr val="0F172A"/>
                </a:solidFill>
              </a:rPr>
              <a:t>• Niche Circuit Expansion: </a:t>
            </a:r>
            <a:r>
              <a:rPr sz="1100">
                <a:solidFill>
                  <a:srgbClr val="475569"/>
                </a:solidFill>
              </a:rPr>
              <a:t>Rapid surge in Nature/Eco-tourism, wellness travel, and heritage trails surpassing classical golden triangle routes.</a:t>
            </a:r>
          </a:p>
          <a:p>
            <a:pPr>
              <a:spcAft>
                <a:spcPts val="1200"/>
              </a:spcAft>
            </a:pPr>
            <a:r>
              <a:rPr b="1" sz="1100">
                <a:solidFill>
                  <a:srgbClr val="0F172A"/>
                </a:solidFill>
              </a:rPr>
              <a:t>• Aviation Gateway Transformation: </a:t>
            </a:r>
            <a:r>
              <a:rPr sz="1100">
                <a:solidFill>
                  <a:srgbClr val="475569"/>
                </a:solidFill>
              </a:rPr>
              <a:t>Secondary gateways (Cochin, Trivandrum, Ahmedabad) emerging as vital international diaspora and leisure conduits.</a:t>
            </a:r>
          </a:p>
          <a:p>
            <a:pPr>
              <a:spcAft>
                <a:spcPts val="1200"/>
              </a:spcAft>
            </a:pPr>
            <a:r>
              <a:rPr b="1" sz="1100">
                <a:solidFill>
                  <a:srgbClr val="0F172A"/>
                </a:solidFill>
              </a:rPr>
              <a:t>• Hospitality Diversification: </a:t>
            </a:r>
            <a:r>
              <a:rPr sz="1100">
                <a:solidFill>
                  <a:srgbClr val="475569"/>
                </a:solidFill>
              </a:rPr>
              <a:t>Rise of classified homestays and boutique eco-lodges alongside classical star hotels, reshaping regional tariff spreads.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292608"/>
          </a:xfrm>
          <a:prstGeom prst="round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PROBLEM DIAGNOSTIC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Problem Statement: Infrastructure &amp; Geographical Asymmetries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36576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0D9488"/>
                </a:solidFill>
                <a:latin typeface="Calibri"/>
              </a:defRPr>
            </a:pPr>
            <a:r>
              <a:t>03 / 12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3328416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0200"/>
            <a:ext cx="296265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C2626"/>
                </a:solidFill>
                <a:latin typeface="Calibri"/>
              </a:defRPr>
            </a:pPr>
            <a:r>
              <a:t>1. Real-World Industry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2962656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100">
                <a:solidFill>
                  <a:srgbClr val="0F172A"/>
                </a:solidFill>
              </a:rPr>
              <a:t>• Severe Geographical Concentration: </a:t>
            </a:r>
            <a:r>
              <a:rPr sz="1100">
                <a:solidFill>
                  <a:srgbClr val="475569"/>
                </a:solidFill>
              </a:rPr>
              <a:t>Over 55% of inbound foreign tourist footfall is concentrated into a small handful of metropolitan gateways, leaving emerging high-potential districts under-monetized.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F172A"/>
                </a:solidFill>
              </a:rPr>
              <a:t>• Infrastructure Mismatch: </a:t>
            </a:r>
            <a:r>
              <a:rPr sz="1100">
                <a:solidFill>
                  <a:srgbClr val="475569"/>
                </a:solidFill>
              </a:rPr>
              <a:t>Severe disconnect between rapid footfall spikes and certified hotel room capacities (NIDHI), leading to severe lodging deficits during peak festival seasons.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F172A"/>
                </a:solidFill>
              </a:rPr>
              <a:t>• Departmental Data Fragmentation: </a:t>
            </a:r>
            <a:r>
              <a:rPr sz="1100">
                <a:solidFill>
                  <a:srgbClr val="475569"/>
                </a:solidFill>
              </a:rPr>
              <a:t>Visitor data (MoT), hotel units (NIDHI), monuments (ASI), and airport movements (AAI) reside in isolated silos with zero relational linkage.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25696" y="1463040"/>
            <a:ext cx="3328416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08576" y="1600200"/>
            <a:ext cx="296265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97706"/>
                </a:solidFill>
                <a:latin typeface="Calibri"/>
              </a:defRPr>
            </a:pPr>
            <a:r>
              <a:t>2. Why the Problem is Critical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08576" y="2011680"/>
            <a:ext cx="2962656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100">
                <a:solidFill>
                  <a:srgbClr val="0F172A"/>
                </a:solidFill>
              </a:rPr>
              <a:t>• Capital Misallocation: </a:t>
            </a:r>
            <a:r>
              <a:rPr sz="1100">
                <a:solidFill>
                  <a:srgbClr val="475569"/>
                </a:solidFill>
              </a:rPr>
              <a:t>State and central tourism budgets are frequently committed to saturated hubs rather than high-return emerging eco-circuits.</a:t>
            </a:r>
          </a:p>
          <a:p>
            <a:pPr>
              <a:spcAft>
                <a:spcPts val="1200"/>
              </a:spcAft>
            </a:pPr>
            <a:r>
              <a:rPr b="1" sz="1100">
                <a:solidFill>
                  <a:srgbClr val="0F172A"/>
                </a:solidFill>
              </a:rPr>
              <a:t>• Forex Revenue Leakage: </a:t>
            </a:r>
            <a:r>
              <a:rPr sz="1100">
                <a:solidFill>
                  <a:srgbClr val="475569"/>
                </a:solidFill>
              </a:rPr>
              <a:t>Inability to retain high-spending international travelers results in truncated lengths of stay and lost revenue.</a:t>
            </a:r>
          </a:p>
          <a:p>
            <a:pPr>
              <a:spcAft>
                <a:spcPts val="1200"/>
              </a:spcAft>
            </a:pPr>
            <a:r>
              <a:rPr b="1" sz="1100">
                <a:solidFill>
                  <a:srgbClr val="0F172A"/>
                </a:solidFill>
              </a:rPr>
              <a:t>• Tourist Dissatisfaction: </a:t>
            </a:r>
            <a:r>
              <a:rPr sz="1100">
                <a:solidFill>
                  <a:srgbClr val="475569"/>
                </a:solidFill>
              </a:rPr>
              <a:t>Infrastructure bottlenecks lead to elevated tourist complaints, degraded satisfaction scores, and weakened revisit intent (low NPS).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19872" y="1463040"/>
            <a:ext cx="3328416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02752" y="1600200"/>
            <a:ext cx="296265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563EB"/>
                </a:solidFill>
                <a:latin typeface="Calibri"/>
              </a:defRPr>
            </a:pPr>
            <a:r>
              <a:t>3. Who is Affected?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02752" y="2011680"/>
            <a:ext cx="2962656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</a:rPr>
              <a:t>• Ministry of Tourism &amp; State Boards: </a:t>
            </a:r>
            <a:r>
              <a:rPr sz="1100">
                <a:solidFill>
                  <a:srgbClr val="475569"/>
                </a:solidFill>
              </a:rPr>
              <a:t>Lack cross-domain analytical intelligence to design targeted regional incentive packages and marketing drives.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</a:rPr>
              <a:t>• Hoteliers &amp; Hospitality Investors: </a:t>
            </a:r>
            <a:r>
              <a:rPr sz="1100">
                <a:solidFill>
                  <a:srgbClr val="475569"/>
                </a:solidFill>
              </a:rPr>
              <a:t>Risk under-building or over-building room inventory without data on seasonal demand and localized tariff spreads.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</a:rPr>
              <a:t>• Aviation &amp; Transit Operators: </a:t>
            </a:r>
            <a:r>
              <a:rPr sz="1100">
                <a:solidFill>
                  <a:srgbClr val="475569"/>
                </a:solidFill>
              </a:rPr>
              <a:t>Face uneven passenger load distributions and bottlenecked international transit corridors.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</a:rPr>
              <a:t>• Domestic &amp; International Tourists: </a:t>
            </a:r>
            <a:r>
              <a:rPr sz="1100">
                <a:solidFill>
                  <a:srgbClr val="475569"/>
                </a:solidFill>
              </a:rPr>
              <a:t>Suffer from price gouging, lack of standardized lodging, and inadequate destination services.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292608"/>
          </a:xfrm>
          <a:prstGeom prst="round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PROJECT GOALS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Project Objectives: Core Scientific &amp; Analytical Aims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36576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0D9488"/>
                </a:solidFill>
                <a:latin typeface="Calibri"/>
              </a:defRPr>
            </a:pPr>
            <a:r>
              <a:t>04 / 12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75504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0200"/>
            <a:ext cx="48097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563EB"/>
                </a:solidFill>
                <a:latin typeface="Calibri"/>
              </a:defRPr>
            </a:pPr>
            <a:r>
              <a:t>1. Multi-Departmental Data Harmonization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57400"/>
            <a:ext cx="4809744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1200">
                <a:solidFill>
                  <a:srgbClr val="475569"/>
                </a:solidFill>
                <a:latin typeface="Calibri"/>
              </a:defRPr>
            </a:pPr>
            <a:r>
              <a:t>Ingest, audit, clean, and relationally merge heterogeneous datasets spanning 474 districts, 1,650 hotels, 1,200 monuments, 2,500 exit surveys, and 40 airport gateways into a single unified analytical data model.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2784" y="1463040"/>
            <a:ext cx="5175504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55664" y="1600200"/>
            <a:ext cx="48097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D9488"/>
                </a:solidFill>
                <a:latin typeface="Calibri"/>
              </a:defRPr>
            </a:pPr>
            <a:r>
              <a:t>2. Inbound Footfall &amp; Destination Density Profiling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55664" y="2057400"/>
            <a:ext cx="4809744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1200">
                <a:solidFill>
                  <a:srgbClr val="475569"/>
                </a:solidFill>
                <a:latin typeface="Calibri"/>
              </a:defRPr>
            </a:pPr>
            <a:r>
              <a:t>Isolate high-density foreign visitor districts versus aggregate domestic tourist engines to establish targeted destination prioritization for state infrastructure grants.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77639"/>
            <a:ext cx="5175504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114799"/>
            <a:ext cx="48097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97706"/>
                </a:solidFill>
                <a:latin typeface="Calibri"/>
              </a:defRPr>
            </a:pPr>
            <a:r>
              <a:t>3. Econometric Spending Velocity &amp; NPS Modeling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571999"/>
            <a:ext cx="4809744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1200">
                <a:solidFill>
                  <a:srgbClr val="475569"/>
                </a:solidFill>
                <a:latin typeface="Calibri"/>
              </a:defRPr>
            </a:pPr>
            <a:r>
              <a:t>Evaluate foreign tourist daily expenditure across global source continents, assessing its correlation with visitor experience ratings, dwell times, and Net Promoter Sentiment.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72784" y="3977639"/>
            <a:ext cx="5175504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55664" y="4114799"/>
            <a:ext cx="48097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9333EA"/>
                </a:solidFill>
                <a:latin typeface="Calibri"/>
              </a:defRPr>
            </a:pPr>
            <a:r>
              <a:t>4. Aviation Gateway &amp; Hospitality Infrastructure Audit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55664" y="4571999"/>
            <a:ext cx="4809744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1200">
                <a:solidFill>
                  <a:srgbClr val="475569"/>
                </a:solidFill>
                <a:latin typeface="Calibri"/>
              </a:defRPr>
            </a:pPr>
            <a:r>
              <a:t>Quantify post-COVID civil aviation traffic recovery trajectories and profile room tariff dispersions across 7 lodging formats to benchmark private-sector capacity alignment.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292608"/>
          </a:xfrm>
          <a:prstGeom prst="round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TECHNICAL BLUEPRINT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Proposed Solution &amp; Key Data Analysis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36576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0D9488"/>
                </a:solidFill>
                <a:latin typeface="Calibri"/>
              </a:defRPr>
            </a:pPr>
            <a:r>
              <a:t>05 / 12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47548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020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563EB"/>
                </a:solidFill>
                <a:latin typeface="Calibri"/>
              </a:defRPr>
            </a:pPr>
            <a:r>
              <a:t>Proposed Solution: Python Data Pipeline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4389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100">
                <a:solidFill>
                  <a:srgbClr val="0F172A"/>
                </a:solidFill>
              </a:rPr>
              <a:t>✓ Automated Python Architecture: </a:t>
            </a:r>
            <a:r>
              <a:rPr sz="1100">
                <a:solidFill>
                  <a:srgbClr val="475569"/>
                </a:solidFill>
              </a:rPr>
              <a:t>Build an end-to-end reproducible pipeline combining modular Jupyter notebooks and automated CLI data processing modules.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F172A"/>
                </a:solidFill>
              </a:rPr>
              <a:t>✓ Domain-Aware Engineering: </a:t>
            </a:r>
            <a:r>
              <a:rPr sz="1100">
                <a:solidFill>
                  <a:srgbClr val="475569"/>
                </a:solidFill>
              </a:rPr>
              <a:t>Implement statistically sound imputation (modal pincodes, bounded medians) and structural zero logic without synthetic distortions.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F172A"/>
                </a:solidFill>
              </a:rPr>
              <a:t>✓ Relational Harmonization: </a:t>
            </a:r>
            <a:r>
              <a:rPr sz="1100">
                <a:solidFill>
                  <a:srgbClr val="475569"/>
                </a:solidFill>
              </a:rPr>
              <a:t>Produce a unified cross-domain district master profile linking demand metrics (footfall) directly to supply metrics (rooms, monuments, flights).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F172A"/>
                </a:solidFill>
              </a:rPr>
              <a:t>✓ Econometric Dashboarding: </a:t>
            </a:r>
            <a:r>
              <a:rPr sz="1100">
                <a:solidFill>
                  <a:srgbClr val="475569"/>
                </a:solidFill>
              </a:rPr>
              <a:t>Generate publication-grade 300 DPI visualizations and tabular executive summaries for senior policymakers.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720" y="1463040"/>
            <a:ext cx="5699455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0" y="1600200"/>
            <a:ext cx="53336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D9488"/>
                </a:solidFill>
                <a:latin typeface="Calibri"/>
              </a:defRPr>
            </a:pPr>
            <a:r>
              <a:t>5 Core Analysis Questions Addressed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01168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100">
                <a:solidFill>
                  <a:srgbClr val="0D9488"/>
                </a:solidFill>
              </a:rPr>
              <a:t>Q1: Destination Density: </a:t>
            </a:r>
            <a:r>
              <a:rPr sz="1100">
                <a:solidFill>
                  <a:srgbClr val="475569"/>
                </a:solidFill>
              </a:rPr>
              <a:t>Which specific districts exhibit the highest foreign visitor density relative to domestic volume, requiring internationalization amenities?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D9488"/>
                </a:solidFill>
              </a:rPr>
              <a:t>Q2: Category Performance: </a:t>
            </a:r>
            <a:r>
              <a:rPr sz="1100">
                <a:solidFill>
                  <a:srgbClr val="475569"/>
                </a:solidFill>
              </a:rPr>
              <a:t>How do distinct tourism segments (Nature/Eco, Beach, Heritage, Religious) compare in visitor volumes and tourist dwell times?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D9488"/>
                </a:solidFill>
              </a:rPr>
              <a:t>Q3: Spend vs Satisfaction: </a:t>
            </a:r>
            <a:r>
              <a:rPr sz="1100">
                <a:solidFill>
                  <a:srgbClr val="475569"/>
                </a:solidFill>
              </a:rPr>
              <a:t>How do tourist spending velocity and satisfaction (NPS) correlate across source continents?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D9488"/>
                </a:solidFill>
              </a:rPr>
              <a:t>Q4: Gateway Exposure: </a:t>
            </a:r>
            <a:r>
              <a:rPr sz="1100">
                <a:solidFill>
                  <a:srgbClr val="475569"/>
                </a:solidFill>
              </a:rPr>
              <a:t>Which civil aviation gateways handle primary domestic loads, and which carry the highest international exposure ratios?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D9488"/>
                </a:solidFill>
              </a:rPr>
              <a:t>Q5: Tariff Spreads: </a:t>
            </a:r>
            <a:r>
              <a:rPr sz="1100">
                <a:solidFill>
                  <a:srgbClr val="475569"/>
                </a:solidFill>
              </a:rPr>
              <a:t>What are the entry and peak room tariff spreads across different accommodation categories (Heritage, Star, Resorts, Homestays)?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292608"/>
          </a:xfrm>
          <a:prstGeom prst="round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DATA CATALOG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Dataset Information: Multi-Domain Data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36576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0D9488"/>
                </a:solidFill>
                <a:latin typeface="Calibri"/>
              </a:defRPr>
            </a:pPr>
            <a:r>
              <a:t>06 / 12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438912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0200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563EB"/>
                </a:solidFill>
                <a:latin typeface="Calibri"/>
              </a:defRPr>
            </a:pPr>
            <a:r>
              <a:t>Master Architecture Specifications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40233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100">
                <a:solidFill>
                  <a:srgbClr val="0F172A"/>
                </a:solidFill>
              </a:rPr>
              <a:t>• Dataset Collection:
  </a:t>
            </a:r>
            <a:r>
              <a:rPr sz="1100">
                <a:solidFill>
                  <a:srgbClr val="475569"/>
                </a:solidFill>
              </a:rPr>
              <a:t>India Tourism Multi-Domain Master Dataset (2022–2026)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172A"/>
                </a:solidFill>
              </a:rPr>
              <a:t>• Primary Sources:
  </a:t>
            </a:r>
            <a:r>
              <a:rPr sz="1100">
                <a:solidFill>
                  <a:srgbClr val="475569"/>
                </a:solidFill>
              </a:rPr>
              <a:t>Ministry of Tourism (MoT), NIDHI, ASI, BOI, DGCA/AAI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172A"/>
                </a:solidFill>
              </a:rPr>
              <a:t>• Format &amp; Layout:
  </a:t>
            </a:r>
            <a:r>
              <a:rPr sz="1100">
                <a:solidFill>
                  <a:srgbClr val="475569"/>
                </a:solidFill>
              </a:rPr>
              <a:t>Structured CSV files (Raw &amp; Cleaned architectures)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172A"/>
                </a:solidFill>
              </a:rPr>
              <a:t>• Coverage Scope:
  </a:t>
            </a:r>
            <a:r>
              <a:rPr sz="1100">
                <a:solidFill>
                  <a:srgbClr val="475569"/>
                </a:solidFill>
              </a:rPr>
              <a:t>474 Districts, 1,650 Hospitality Units, 1,200 Monuments, 2,500 Survey Respondents, 40 Airports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172A"/>
                </a:solidFill>
              </a:rPr>
              <a:t>• Key Dimension Features:
  </a:t>
            </a:r>
            <a:r>
              <a:rPr sz="1100">
                <a:solidFill>
                  <a:srgbClr val="475569"/>
                </a:solidFill>
              </a:rPr>
              <a:t>District_City, State_UT, Year, Category, Star_Classification, Airport_Code, Origin_Country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172A"/>
                </a:solidFill>
              </a:rPr>
              <a:t>• Key Metric Features:
  </a:t>
            </a:r>
            <a:r>
              <a:rPr sz="1100">
                <a:solidFill>
                  <a:srgbClr val="475569"/>
                </a:solidFill>
              </a:rPr>
              <a:t>Domestic_Visitors, Foreign_Visitors, Total_Rooms, Min_Tariff_INR, Total_Spend_USD, NPS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0" y="1463040"/>
            <a:ext cx="6156655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0" y="1600200"/>
            <a:ext cx="57908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D9488"/>
                </a:solidFill>
                <a:latin typeface="Calibri"/>
              </a:defRPr>
            </a:pPr>
            <a:r>
              <a:t>Integrated Sub-Datasets &amp; Scale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2011680"/>
            <a:ext cx="5760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b="1" sz="1000">
                <a:solidFill>
                  <a:srgbClr val="0D9488"/>
                </a:solidFill>
              </a:rPr>
              <a:t>[2,380 Rows × 8 Columns] </a:t>
            </a:r>
            <a:r>
              <a:rPr b="1" sz="1100">
                <a:solidFill>
                  <a:srgbClr val="0F172A"/>
                </a:solidFill>
              </a:rPr>
              <a:t>1. District Footfall Dataset: </a:t>
            </a:r>
            <a:r>
              <a:rPr sz="1000">
                <a:solidFill>
                  <a:srgbClr val="475569"/>
                </a:solidFill>
              </a:rPr>
              <a:t>474 Districts across 5 years (2022–2026) capturing domestic &amp; foreign footfalls.</a:t>
            </a:r>
          </a:p>
          <a:p>
            <a:pPr>
              <a:spcAft>
                <a:spcPts val="500"/>
              </a:spcAft>
            </a:pPr>
            <a:r>
              <a:rPr b="1" sz="1000">
                <a:solidFill>
                  <a:srgbClr val="0D9488"/>
                </a:solidFill>
              </a:rPr>
              <a:t>[1,650 Rows × 14 Columns] </a:t>
            </a:r>
            <a:r>
              <a:rPr b="1" sz="1100">
                <a:solidFill>
                  <a:srgbClr val="0F172A"/>
                </a:solidFill>
              </a:rPr>
              <a:t>2. NIDHI Hospitality Registry: </a:t>
            </a:r>
            <a:r>
              <a:rPr sz="1000">
                <a:solidFill>
                  <a:srgbClr val="475569"/>
                </a:solidFill>
              </a:rPr>
              <a:t>Classified hotel units, star ratings, room capacities, audit scores, and room tariffs.</a:t>
            </a:r>
          </a:p>
          <a:p>
            <a:pPr>
              <a:spcAft>
                <a:spcPts val="500"/>
              </a:spcAft>
            </a:pPr>
            <a:r>
              <a:rPr b="1" sz="1000">
                <a:solidFill>
                  <a:srgbClr val="0D9488"/>
                </a:solidFill>
              </a:rPr>
              <a:t>[1,200 Rows × 10 Columns] </a:t>
            </a:r>
            <a:r>
              <a:rPr b="1" sz="1100">
                <a:solidFill>
                  <a:srgbClr val="0F172A"/>
                </a:solidFill>
              </a:rPr>
              <a:t>3. ASI Protected Monuments: </a:t>
            </a:r>
            <a:r>
              <a:rPr sz="1000">
                <a:solidFill>
                  <a:srgbClr val="475569"/>
                </a:solidFill>
              </a:rPr>
              <a:t>Centrally protected national monuments, UNESCO status, and ticketed visitor tallies.</a:t>
            </a:r>
          </a:p>
          <a:p>
            <a:pPr>
              <a:spcAft>
                <a:spcPts val="500"/>
              </a:spcAft>
            </a:pPr>
            <a:r>
              <a:rPr b="1" sz="1000">
                <a:solidFill>
                  <a:srgbClr val="0D9488"/>
                </a:solidFill>
              </a:rPr>
              <a:t>[2,500 Rows × 12 Columns] </a:t>
            </a:r>
            <a:r>
              <a:rPr b="1" sz="1100">
                <a:solidFill>
                  <a:srgbClr val="0F172A"/>
                </a:solidFill>
              </a:rPr>
              <a:t>4. Inbound Exit Survey Microdata: </a:t>
            </a:r>
            <a:r>
              <a:rPr sz="1000">
                <a:solidFill>
                  <a:srgbClr val="475569"/>
                </a:solidFill>
              </a:rPr>
              <a:t>International airport exit surveys: dwell nights, spending USD, satisfaction ratings.</a:t>
            </a:r>
          </a:p>
          <a:p>
            <a:pPr>
              <a:spcAft>
                <a:spcPts val="500"/>
              </a:spcAft>
            </a:pPr>
            <a:r>
              <a:rPr b="1" sz="1000">
                <a:solidFill>
                  <a:srgbClr val="0D9488"/>
                </a:solidFill>
              </a:rPr>
              <a:t>[2,400 Rows × 9 Columns] </a:t>
            </a:r>
            <a:r>
              <a:rPr b="1" sz="1100">
                <a:solidFill>
                  <a:srgbClr val="0F172A"/>
                </a:solidFill>
              </a:rPr>
              <a:t>5. Civil Aviation Monthly Traffic: </a:t>
            </a:r>
            <a:r>
              <a:rPr sz="1000">
                <a:solidFill>
                  <a:srgbClr val="475569"/>
                </a:solidFill>
              </a:rPr>
              <a:t>40 domestic &amp; international gateways across 60 monthly periods (AAI/DGCA).</a:t>
            </a:r>
          </a:p>
          <a:p>
            <a:pPr>
              <a:spcAft>
                <a:spcPts val="500"/>
              </a:spcAft>
            </a:pPr>
            <a:r>
              <a:rPr b="1" sz="1000">
                <a:solidFill>
                  <a:srgbClr val="0D9488"/>
                </a:solidFill>
              </a:rPr>
              <a:t>[474 Rows × 18 Columns] </a:t>
            </a:r>
            <a:r>
              <a:rPr b="1" sz="1100">
                <a:solidFill>
                  <a:srgbClr val="0F172A"/>
                </a:solidFill>
              </a:rPr>
              <a:t>6. Unified Master Profile (2026): </a:t>
            </a:r>
            <a:r>
              <a:rPr sz="1000">
                <a:solidFill>
                  <a:srgbClr val="475569"/>
                </a:solidFill>
              </a:rPr>
              <a:t>Cross-domain merged profile uniting footfall, hotel supply, and heritage sites.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292608"/>
          </a:xfrm>
          <a:prstGeom prst="round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STAGE 1: EXPLORATION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Data Collection &amp; Understanding: Schema &amp; Integrity Audit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36576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0D9488"/>
                </a:solidFill>
                <a:latin typeface="Calibri"/>
              </a:defRPr>
            </a:pPr>
            <a:r>
              <a:t>07 / 12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493776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020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563EB"/>
                </a:solidFill>
                <a:latin typeface="Calibri"/>
              </a:defRPr>
            </a:pPr>
            <a:r>
              <a:t>Collection &amp; Structural Audit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100">
                <a:solidFill>
                  <a:srgbClr val="0F172A"/>
                </a:solidFill>
              </a:rPr>
              <a:t>• Automated Collection: </a:t>
            </a:r>
            <a:r>
              <a:rPr sz="1100">
                <a:solidFill>
                  <a:srgbClr val="475569"/>
                </a:solidFill>
              </a:rPr>
              <a:t>Ingested tabular bulletins from the Ministry of Tourism, NIDHI hotel databases, and civil aviation reports.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F172A"/>
                </a:solidFill>
              </a:rPr>
              <a:t>• Data Type Heterogeneity: </a:t>
            </a:r>
            <a:r>
              <a:rPr sz="1100">
                <a:solidFill>
                  <a:srgbClr val="475569"/>
                </a:solidFill>
              </a:rPr>
              <a:t>Identified mixed schemas: integer visitor counts, floating-point tariff currencies, multi-level categorical labels, and temporal month-year dates.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F172A"/>
                </a:solidFill>
              </a:rPr>
              <a:t>• Missing Value Diagnosis: </a:t>
            </a:r>
            <a:r>
              <a:rPr sz="1100">
                <a:solidFill>
                  <a:srgbClr val="475569"/>
                </a:solidFill>
              </a:rPr>
              <a:t>Discovered 12.4% missing foreign visitors in remote non-border districts and unrecorded pincodes in regional hotel listings.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F172A"/>
                </a:solidFill>
              </a:rPr>
              <a:t>• Zero Duplicate Verification: </a:t>
            </a:r>
            <a:r>
              <a:rPr sz="1100">
                <a:solidFill>
                  <a:srgbClr val="475569"/>
                </a:solidFill>
              </a:rPr>
              <a:t>Executed duplicate audit across composite primary keys [District_City, Year] and [Airport_Code, Date]; confirmed 0 duplicate records (100% unique keys).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1463040"/>
            <a:ext cx="5516575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0" y="1600200"/>
            <a:ext cx="515081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D9488"/>
                </a:solidFill>
                <a:latin typeface="Calibri"/>
              </a:defRPr>
            </a:pPr>
            <a:r>
              <a:t>Jupyter Notebook Inspection Console</a:t>
            </a:r>
          </a:p>
        </p:txBody>
      </p:sp>
      <p:pic>
        <p:nvPicPr>
          <p:cNvPr id="11" name="Picture 10" descr="01_data_understan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2011680"/>
            <a:ext cx="5242255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292608"/>
          </a:xfrm>
          <a:prstGeom prst="round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STAGE 2: PREPARATION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Data Cleaning &amp; Transformation: Imputation &amp; Feature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36576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0D9488"/>
                </a:solidFill>
                <a:latin typeface="Calibri"/>
              </a:defRPr>
            </a:pPr>
            <a:r>
              <a:t>08 / 12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493776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020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D9488"/>
                </a:solidFill>
                <a:latin typeface="Calibri"/>
              </a:defRPr>
            </a:pPr>
            <a:r>
              <a:t>Cleaning &amp; Transformation Pipeline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b="1" sz="1000">
                <a:solidFill>
                  <a:srgbClr val="0F172A"/>
                </a:solidFill>
              </a:rPr>
              <a:t>✓ Nullable Int64 Casting: </a:t>
            </a:r>
            <a:r>
              <a:rPr sz="1000">
                <a:solidFill>
                  <a:srgbClr val="475569"/>
                </a:solidFill>
              </a:rPr>
              <a:t>Cast numeric count columns with missing values to Pandas nullable Int64 (Foreign_Visitors, Complaints), preventing float truncation.</a:t>
            </a:r>
          </a:p>
          <a:p>
            <a:pPr>
              <a:spcAft>
                <a:spcPts val="700"/>
              </a:spcAft>
            </a:pPr>
            <a:r>
              <a:rPr b="1" sz="1000">
                <a:solidFill>
                  <a:srgbClr val="0F172A"/>
                </a:solidFill>
              </a:rPr>
              <a:t>✓ Hierarchical Mode Imputation: </a:t>
            </a:r>
            <a:r>
              <a:rPr sz="1000">
                <a:solidFill>
                  <a:srgbClr val="475569"/>
                </a:solidFill>
              </a:rPr>
              <a:t>Imputed missing hotel pincodes using group-level modal pincode of the corresponding District_City; unresolved assigned 'Unknown'.</a:t>
            </a:r>
          </a:p>
          <a:p>
            <a:pPr>
              <a:spcAft>
                <a:spcPts val="700"/>
              </a:spcAft>
            </a:pPr>
            <a:r>
              <a:rPr b="1" sz="1000">
                <a:solidFill>
                  <a:srgbClr val="0F172A"/>
                </a:solidFill>
              </a:rPr>
              <a:t>✓ Domain Categorical Handling: </a:t>
            </a:r>
            <a:r>
              <a:rPr sz="1000">
                <a:solidFill>
                  <a:srgbClr val="475569"/>
                </a:solidFill>
              </a:rPr>
              <a:t>Assigned 'Unclassified' to 342 non-graded lodging units; imputed Audit_Quality_Score via category median with a boolean missing indicator flag.</a:t>
            </a:r>
          </a:p>
          <a:p>
            <a:pPr>
              <a:spcAft>
                <a:spcPts val="700"/>
              </a:spcAft>
            </a:pPr>
            <a:r>
              <a:rPr b="1" sz="1000">
                <a:solidFill>
                  <a:srgbClr val="0F172A"/>
                </a:solidFill>
              </a:rPr>
              <a:t>✓ Structural Zero Fallbacks: </a:t>
            </a:r>
            <a:r>
              <a:rPr sz="1000">
                <a:solidFill>
                  <a:srgbClr val="475569"/>
                </a:solidFill>
              </a:rPr>
              <a:t>Assigned ₹0 to non-ticketed ASI monuments; imputed 0 international movements for domestic regional airfields.</a:t>
            </a:r>
          </a:p>
          <a:p>
            <a:pPr>
              <a:spcAft>
                <a:spcPts val="700"/>
              </a:spcAft>
            </a:pPr>
            <a:r>
              <a:rPr b="1" sz="1000">
                <a:solidFill>
                  <a:srgbClr val="0F172A"/>
                </a:solidFill>
              </a:rPr>
              <a:t>✓ Engineered Features: </a:t>
            </a:r>
            <a:r>
              <a:rPr sz="1000">
                <a:solidFill>
                  <a:srgbClr val="475569"/>
                </a:solidFill>
              </a:rPr>
              <a:t>Derived Spend_Velocity_USD (Spend/Nights), Foreign_Visitor_Ratio, Hotel_Density_Per_100k, and Tariff_Spread_INR.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1463040"/>
            <a:ext cx="5516575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0" y="1600200"/>
            <a:ext cx="515081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563EB"/>
                </a:solidFill>
                <a:latin typeface="Calibri"/>
              </a:defRPr>
            </a:pPr>
            <a:r>
              <a:t>Jupyter Notebook Transformation Code</a:t>
            </a:r>
          </a:p>
        </p:txBody>
      </p:sp>
      <p:pic>
        <p:nvPicPr>
          <p:cNvPr id="11" name="Picture 10" descr="02_data_clea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2011680"/>
            <a:ext cx="5242255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292608"/>
          </a:xfrm>
          <a:prstGeom prst="round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STAGE 3: DISCOVERY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Exploratory Data Analysis (EDA): Statistical Findings &amp; Groupings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36576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0D9488"/>
                </a:solidFill>
                <a:latin typeface="Calibri"/>
              </a:defRPr>
            </a:pPr>
            <a:r>
              <a:t>09 / 12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493776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020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97706"/>
                </a:solidFill>
                <a:latin typeface="Calibri"/>
              </a:defRPr>
            </a:pPr>
            <a:r>
              <a:t>Core EDA Statistical Discoveries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100">
                <a:solidFill>
                  <a:srgbClr val="0F172A"/>
                </a:solidFill>
              </a:rPr>
              <a:t>• Extreme Skewness in Foreign Inflow: </a:t>
            </a:r>
            <a:r>
              <a:rPr sz="1100">
                <a:solidFill>
                  <a:srgbClr val="475569"/>
                </a:solidFill>
              </a:rPr>
              <a:t>Top 10 districts capture &gt;55% of total foreign footfall. Metropolitan hubs (Chennai, Jaipur) lead absolute volume, but coastal/heritage nodes (Ernakulam 20.08%, Puri 14.99%) lead in foreign density.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F172A"/>
                </a:solidFill>
              </a:rPr>
              <a:t>• Eco &amp; Nature Tourism Superiority: </a:t>
            </a:r>
            <a:r>
              <a:rPr sz="1100">
                <a:solidFill>
                  <a:srgbClr val="475569"/>
                </a:solidFill>
              </a:rPr>
              <a:t>Nature / Eco-tourism achieves the highest average foreign arrivals (42,150/district) and longest dwell time (3.0 days), outperforming classical heritage circuits.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F172A"/>
                </a:solidFill>
              </a:rPr>
              <a:t>• High-Yield Regional Source Markets: </a:t>
            </a:r>
            <a:r>
              <a:rPr sz="1100">
                <a:solidFill>
                  <a:srgbClr val="475569"/>
                </a:solidFill>
              </a:rPr>
              <a:t>Travelers from Oceania ($257.7/day) and the Americas ($224.5/day) produce the highest foreign exchange velocity.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F172A"/>
                </a:solidFill>
              </a:rPr>
              <a:t>• Aviation Gateway Polarization: </a:t>
            </a:r>
            <a:r>
              <a:rPr sz="1100">
                <a:solidFill>
                  <a:srgbClr val="475569"/>
                </a:solidFill>
              </a:rPr>
              <a:t>Delhi (DEL) and Mumbai (BOM) drive passenger throughput, but Cochin (48.4%) and Trivandrum (46.0%) exhibit highest international exposure ratios.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1463040"/>
            <a:ext cx="5516575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0" y="1600200"/>
            <a:ext cx="515081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D9488"/>
                </a:solidFill>
                <a:latin typeface="Calibri"/>
              </a:defRPr>
            </a:pPr>
            <a:r>
              <a:t>Jupyter Notebook Econometric Aggregations</a:t>
            </a:r>
          </a:p>
        </p:txBody>
      </p:sp>
      <p:pic>
        <p:nvPicPr>
          <p:cNvPr id="11" name="Picture 10" descr="03_eda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2011680"/>
            <a:ext cx="5242255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292608"/>
          </a:xfrm>
          <a:prstGeom prst="round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STAGE 4: DASHBOARDS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Data Visualization: Key Analytical Dashboards &amp;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36576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0D9488"/>
                </a:solidFill>
                <a:latin typeface="Calibri"/>
              </a:defRPr>
            </a:pPr>
            <a:r>
              <a:t>10 / 12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27243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0200"/>
            <a:ext cx="490667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563EB"/>
                </a:solidFill>
                <a:latin typeface="Calibri"/>
              </a:defRPr>
            </a:pPr>
            <a:r>
              <a:t>Inbound Spend vs Experience &amp; Satisfaction</a:t>
            </a:r>
          </a:p>
        </p:txBody>
      </p:sp>
      <p:pic>
        <p:nvPicPr>
          <p:cNvPr id="8" name="Picture 7" descr="02_inbound_spend_vs_experi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965960"/>
            <a:ext cx="4906670" cy="22402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" y="4251960"/>
            <a:ext cx="490667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b="1" sz="1000">
                <a:solidFill>
                  <a:srgbClr val="2563EB"/>
                </a:solidFill>
              </a:rPr>
              <a:t>Chart Name: </a:t>
            </a:r>
            <a:r>
              <a:rPr sz="1000">
                <a:solidFill>
                  <a:srgbClr val="475569"/>
                </a:solidFill>
              </a:rPr>
              <a:t>Inbound Spend vs. Experience Rating &amp; Net Promoter Sentiment</a:t>
            </a:r>
          </a:p>
          <a:p>
            <a:pPr>
              <a:spcAft>
                <a:spcPts val="200"/>
              </a:spcAft>
            </a:pPr>
            <a:r>
              <a:rPr b="1" sz="1000">
                <a:solidFill>
                  <a:srgbClr val="2563EB"/>
                </a:solidFill>
              </a:rPr>
              <a:t>Purpose: </a:t>
            </a:r>
            <a:r>
              <a:rPr sz="1000">
                <a:solidFill>
                  <a:srgbClr val="475569"/>
                </a:solidFill>
              </a:rPr>
              <a:t>Evaluate foreign exchange velocity and visitor satisfaction across world regions.</a:t>
            </a:r>
          </a:p>
          <a:p>
            <a:pPr>
              <a:spcAft>
                <a:spcPts val="200"/>
              </a:spcAft>
            </a:pPr>
            <a:r>
              <a:rPr b="1" sz="1000">
                <a:solidFill>
                  <a:srgbClr val="2563EB"/>
                </a:solidFill>
              </a:rPr>
              <a:t>What it shows: </a:t>
            </a:r>
            <a:r>
              <a:rPr sz="1000">
                <a:solidFill>
                  <a:srgbClr val="475569"/>
                </a:solidFill>
              </a:rPr>
              <a:t>Scatter plot of trip expenditure (USD) vs satisfaction (1–10) grouped by source continent.</a:t>
            </a:r>
          </a:p>
          <a:p>
            <a:pPr>
              <a:spcAft>
                <a:spcPts val="200"/>
              </a:spcAft>
            </a:pPr>
            <a:r>
              <a:rPr b="1" sz="1000">
                <a:solidFill>
                  <a:srgbClr val="2563EB"/>
                </a:solidFill>
              </a:rPr>
              <a:t>Key Insight: </a:t>
            </a:r>
            <a:r>
              <a:rPr sz="1000">
                <a:solidFill>
                  <a:srgbClr val="475569"/>
                </a:solidFill>
              </a:rPr>
              <a:t>Oceania ($257.7/day) and Americas ($224.5/day) lead in yield; South Asian (31.9%) and US visitors record highest NPS.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6830" y="1463040"/>
            <a:ext cx="527243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69710" y="1600200"/>
            <a:ext cx="490667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D9488"/>
                </a:solidFill>
                <a:latin typeface="Calibri"/>
              </a:defRPr>
            </a:pPr>
            <a:r>
              <a:t>Monthly Airport Passenger Traffic Evolution</a:t>
            </a:r>
          </a:p>
        </p:txBody>
      </p:sp>
      <p:pic>
        <p:nvPicPr>
          <p:cNvPr id="12" name="Picture 11" descr="01_monthly_airport_passenger_movemen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9710" y="1965960"/>
            <a:ext cx="4906670" cy="22402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69710" y="4251960"/>
            <a:ext cx="490667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b="1" sz="1000">
                <a:solidFill>
                  <a:srgbClr val="0D9488"/>
                </a:solidFill>
              </a:rPr>
              <a:t>Chart Name: </a:t>
            </a:r>
            <a:r>
              <a:rPr sz="1000">
                <a:solidFill>
                  <a:srgbClr val="475569"/>
                </a:solidFill>
              </a:rPr>
              <a:t>Monthly Airport Passenger Movements Trajectory (2022–2026)</a:t>
            </a:r>
          </a:p>
          <a:p>
            <a:pPr>
              <a:spcAft>
                <a:spcPts val="200"/>
              </a:spcAft>
            </a:pPr>
            <a:r>
              <a:rPr b="1" sz="1000">
                <a:solidFill>
                  <a:srgbClr val="0D9488"/>
                </a:solidFill>
              </a:rPr>
              <a:t>Purpose: </a:t>
            </a:r>
            <a:r>
              <a:rPr sz="1000">
                <a:solidFill>
                  <a:srgbClr val="475569"/>
                </a:solidFill>
              </a:rPr>
              <a:t>Track civil aviation recovery curves and domestic vs international traffic volumes.</a:t>
            </a:r>
          </a:p>
          <a:p>
            <a:pPr>
              <a:spcAft>
                <a:spcPts val="200"/>
              </a:spcAft>
            </a:pPr>
            <a:r>
              <a:rPr b="1" sz="1000">
                <a:solidFill>
                  <a:srgbClr val="0D9488"/>
                </a:solidFill>
              </a:rPr>
              <a:t>What it shows: </a:t>
            </a:r>
            <a:r>
              <a:rPr sz="1000">
                <a:solidFill>
                  <a:srgbClr val="475569"/>
                </a:solidFill>
              </a:rPr>
              <a:t>Multi-year monthly passenger curves across 40 primary aviation hubs.</a:t>
            </a:r>
          </a:p>
          <a:p>
            <a:pPr>
              <a:spcAft>
                <a:spcPts val="200"/>
              </a:spcAft>
            </a:pPr>
            <a:r>
              <a:rPr b="1" sz="1000">
                <a:solidFill>
                  <a:srgbClr val="0D9488"/>
                </a:solidFill>
              </a:rPr>
              <a:t>Key Insight: </a:t>
            </a:r>
            <a:r>
              <a:rPr sz="1000">
                <a:solidFill>
                  <a:srgbClr val="475569"/>
                </a:solidFill>
              </a:rPr>
              <a:t>Delhi (DEL) &amp; Mumbai (BOM) absorb total volume; Cochin (48.4%) &amp; Trivandrum (46.0%) lead international exposure.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292608"/>
          </a:xfrm>
          <a:prstGeom prst="round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STRATEGIC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Key Insights &amp; Practical Policy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36576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0D9488"/>
                </a:solidFill>
                <a:latin typeface="Calibri"/>
              </a:defRPr>
            </a:pPr>
            <a:r>
              <a:t>11 / 12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27243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0200"/>
            <a:ext cx="490667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563EB"/>
                </a:solidFill>
                <a:latin typeface="Calibri"/>
              </a:defRPr>
            </a:pPr>
            <a:r>
              <a:t>Empirical Insights from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490667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000">
                <a:solidFill>
                  <a:srgbClr val="0F172A"/>
                </a:solidFill>
              </a:rPr>
              <a:t>1. Foreign Density Asymmetry: </a:t>
            </a:r>
            <a:r>
              <a:rPr sz="1000">
                <a:solidFill>
                  <a:srgbClr val="475569"/>
                </a:solidFill>
              </a:rPr>
              <a:t>Ernakulam (20.08%) and Puri (14.99%) lead in foreign tourist density despite lower overall volume than metros like Delhi.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0F172A"/>
                </a:solidFill>
              </a:rPr>
              <a:t>2. Nature/Eco Outperformance: </a:t>
            </a:r>
            <a:r>
              <a:rPr sz="1000">
                <a:solidFill>
                  <a:srgbClr val="475569"/>
                </a:solidFill>
              </a:rPr>
              <a:t>Eco-tourism achieves 42,150 foreign visitors/district and longest dwell time (3.0 days), generating superior local value.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0F172A"/>
                </a:solidFill>
              </a:rPr>
              <a:t>3. High-Yield Source Markets: </a:t>
            </a:r>
            <a:r>
              <a:rPr sz="1000">
                <a:solidFill>
                  <a:srgbClr val="475569"/>
                </a:solidFill>
              </a:rPr>
              <a:t>Oceania ($257.7/day) and North America ($224.5/day) produce the highest spending velocity; South Asian tourists record highest NPS (31.9%).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0F172A"/>
                </a:solidFill>
              </a:rPr>
              <a:t>4. Southern Gateway Exposure: </a:t>
            </a:r>
            <a:r>
              <a:rPr sz="1000">
                <a:solidFill>
                  <a:srgbClr val="475569"/>
                </a:solidFill>
              </a:rPr>
              <a:t>Cochin (48.4%) and Trivandrum (46.0%) serve as critical international diaspora and leisure conduits.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0F172A"/>
                </a:solidFill>
              </a:rPr>
              <a:t>5. Alternative Lodging Value: </a:t>
            </a:r>
            <a:r>
              <a:rPr sz="1000">
                <a:solidFill>
                  <a:srgbClr val="475569"/>
                </a:solidFill>
              </a:rPr>
              <a:t>Homestays (₹1,500–₹3,000) sustain high audit scores (75.7/100), providing accessible regional capacity without luxury overheads.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6830" y="1463040"/>
            <a:ext cx="527243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69710" y="1600200"/>
            <a:ext cx="490667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D9488"/>
                </a:solidFill>
                <a:latin typeface="Calibri"/>
              </a:defRPr>
            </a:pPr>
            <a:r>
              <a:t>Actionable Industry Recommendations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69710" y="2011680"/>
            <a:ext cx="490667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000">
                <a:solidFill>
                  <a:srgbClr val="0F172A"/>
                </a:solidFill>
              </a:rPr>
              <a:t>1. Targeted Inbound Amenities: </a:t>
            </a:r>
            <a:r>
              <a:rPr sz="1000">
                <a:solidFill>
                  <a:srgbClr val="475569"/>
                </a:solidFill>
              </a:rPr>
              <a:t>Deploy dedicated multi-lingual tourist assistance desks, foreign exchange kiosks, and digital payments in high-density nodes (Ernakulam, Puri).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0F172A"/>
                </a:solidFill>
              </a:rPr>
              <a:t>2. Expand Eco &amp; Nature Circuits: </a:t>
            </a:r>
            <a:r>
              <a:rPr sz="1000">
                <a:solidFill>
                  <a:srgbClr val="475569"/>
                </a:solidFill>
              </a:rPr>
              <a:t>Incentivize certified eco-resorts and guided nature trails along eco-corridors to capture long dwell times and high spending.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0F172A"/>
                </a:solidFill>
              </a:rPr>
              <a:t>3. Prioritize High-Velocity Source Markets: </a:t>
            </a:r>
            <a:r>
              <a:rPr sz="1000">
                <a:solidFill>
                  <a:srgbClr val="475569"/>
                </a:solidFill>
              </a:rPr>
              <a:t>Focus Ministry of Tourism marketing and fast-track electronic visa processing on Oceania and North America.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0F172A"/>
                </a:solidFill>
              </a:rPr>
              <a:t>4. Upgrade Southern Aviation Gateways: </a:t>
            </a:r>
            <a:r>
              <a:rPr sz="1000">
                <a:solidFill>
                  <a:srgbClr val="475569"/>
                </a:solidFill>
              </a:rPr>
              <a:t>Expand customs clearance lanes and international transfer lounges at Cochin (COK) and Thiruvananthapuram (TRV).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0F172A"/>
                </a:solidFill>
              </a:rPr>
              <a:t>5. Standardize Alternative Lodging: </a:t>
            </a:r>
            <a:r>
              <a:rPr sz="1000">
                <a:solidFill>
                  <a:srgbClr val="475569"/>
                </a:solidFill>
              </a:rPr>
              <a:t>Broaden NIDHI accreditation, hygiene certification, and hospitality skill training for homestays and eco-lodges.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292608"/>
          </a:xfrm>
          <a:prstGeom prst="round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EXECUTIVE WRAP-UP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Project Conclusion &amp; Future Horizons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36576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0D9488"/>
                </a:solidFill>
                <a:latin typeface="Calibri"/>
              </a:defRPr>
            </a:pPr>
            <a:r>
              <a:t>12 / 12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75504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0200"/>
            <a:ext cx="48097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563EB"/>
                </a:solidFill>
                <a:latin typeface="Calibri"/>
              </a:defRPr>
            </a:pPr>
            <a:r>
              <a:t>1. What Was Achieved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57400"/>
            <a:ext cx="4809744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1200">
                <a:solidFill>
                  <a:srgbClr val="475569"/>
                </a:solidFill>
                <a:latin typeface="Calibri"/>
              </a:defRPr>
            </a:pPr>
            <a:r>
              <a:t>Successfully designed and executed an end-to-end Python data pipeline harmonizing 5 departmental datasets across 474 districts, generating 100% clean data models and 5 publication-ready visual dashboards.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2784" y="1463040"/>
            <a:ext cx="5175504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55664" y="1600200"/>
            <a:ext cx="48097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D9488"/>
                </a:solidFill>
                <a:latin typeface="Calibri"/>
              </a:defRPr>
            </a:pPr>
            <a:r>
              <a:t>2. Addressing the Industry Problem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55664" y="2057400"/>
            <a:ext cx="4809744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1200">
                <a:solidFill>
                  <a:srgbClr val="475569"/>
                </a:solidFill>
                <a:latin typeface="Calibri"/>
              </a:defRPr>
            </a:pPr>
            <a:r>
              <a:t>Replaced fragmented intuition with empirical cross-domain intelligence, pinpointing foreign visitor concentration nodes, accommodation bottlenecks, and aviation load dynamics.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77639"/>
            <a:ext cx="5175504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114799"/>
            <a:ext cx="48097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97706"/>
                </a:solidFill>
                <a:latin typeface="Calibri"/>
              </a:defRPr>
            </a:pPr>
            <a:r>
              <a:t>3. Practical Stakeholder Value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571999"/>
            <a:ext cx="4809744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1200">
                <a:solidFill>
                  <a:srgbClr val="475569"/>
                </a:solidFill>
                <a:latin typeface="Calibri"/>
              </a:defRPr>
            </a:pPr>
            <a:r>
              <a:t>Delivers concrete roadmap for state tourism boards to optimize budget allocation, hoteliers to calibrate room inventory, and airport authorities to expand transit capacity.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72784" y="3977639"/>
            <a:ext cx="5175504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55664" y="4114799"/>
            <a:ext cx="48097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9333EA"/>
                </a:solidFill>
                <a:latin typeface="Calibri"/>
              </a:defRPr>
            </a:pPr>
            <a:r>
              <a:t>4. Future Scope &amp; Improvements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55664" y="4571999"/>
            <a:ext cx="4809744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1200">
                <a:solidFill>
                  <a:srgbClr val="475569"/>
                </a:solidFill>
                <a:latin typeface="Calibri"/>
              </a:defRPr>
            </a:pPr>
            <a:r>
              <a:t>Implement predictive machine learning models (ARIMA / Prophet / XGBoost) for seasonal footfall forecasting; incorporate natural language sentiment analysis on tourist reviews; deploy interactive web GIS dashboards.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