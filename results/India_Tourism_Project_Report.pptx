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GOVERNMENT DATA INTELLIGENCE &amp; ECONOMETRIC MODELING</a:t>
            </a:r>
          </a:p>
          <a:p>
            <a:pPr>
              <a:spcBef>
                <a:spcPts val="1000"/>
              </a:spcBef>
              <a:defRPr sz="3800" b="1">
                <a:solidFill>
                  <a:srgbClr val="FFFFFF"/>
                </a:solidFill>
              </a:defRPr>
            </a:pPr>
            <a:r>
              <a:t>India Tourism Analysis &amp; Pipeline</a:t>
            </a:r>
          </a:p>
          <a:p>
            <a:pPr>
              <a:spcBef>
                <a:spcPts val="800"/>
              </a:spcBef>
              <a:defRPr sz="1800">
                <a:solidFill>
                  <a:srgbClr val="CBD5E1"/>
                </a:solidFill>
              </a:defRPr>
            </a:pPr>
            <a:r>
              <a:t>Granular Post-COVID Dynamics, Hospitality Capacity &amp; Aviation Load Modeling (2022–2026)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Author: Thillai valavan A S   |   Datasets: MoT, NIDHI, ASI, BOI, AAI / DGCA   |   2026 Edition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INDIA TOURISM ANALYTICS (2022–2026)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Executive Overview &amp; Core Analytical Scope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2468880" cy="164592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1E3A8A"/>
                </a:solidFill>
              </a:defRPr>
            </a:pPr>
            <a:r>
              <a:t>474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Districts Tracked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Comprehensive footfall across all 28 states &amp; 8 UTs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554480"/>
            <a:ext cx="2468880" cy="164592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1E3A8A"/>
                </a:solidFill>
              </a:defRPr>
            </a:pPr>
            <a:r>
              <a:t>1,650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Hospitality Units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NIDHI verified star hotels, resorts, &amp; homestays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2468880" cy="164592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1E3A8A"/>
                </a:solidFill>
              </a:defRPr>
            </a:pPr>
            <a:r>
              <a:t>1,200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ASI Monuments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Centrally protected heritage monuments &amp; sites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554480"/>
            <a:ext cx="2468880" cy="164592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1E3A8A"/>
                </a:solidFill>
              </a:defRPr>
            </a:pPr>
            <a:r>
              <a:t>40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Aviation Gateways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Monthly passenger movements &amp; flight operations (2022-2026)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End-to-End Reproducible Architecture: </a:t>
            </a:r>
            <a:r>
              <a:rPr sz="1300">
                <a:solidFill>
                  <a:srgbClr val="334155"/>
                </a:solidFill>
              </a:rPr>
              <a:t>Standardized data separation with immutable raw data (data/raw/) and fully typed, imputed clean data (data/cleaned/).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Domain-Aware Missing Value Imputation: </a:t>
            </a:r>
            <a:r>
              <a:rPr sz="1300">
                <a:solidFill>
                  <a:srgbClr val="334155"/>
                </a:solidFill>
              </a:rPr>
              <a:t>Eliminated statistical distortions via hierarchical modal pincodes, category-bounded medians, and structural zeros for unticketed sites.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Relational Master Integration: </a:t>
            </a:r>
            <a:r>
              <a:rPr sz="1300">
                <a:solidFill>
                  <a:srgbClr val="334155"/>
                </a:solidFill>
              </a:rPr>
              <a:t>Engineered 'df_district_master' merging footfall trends with accommodation bed-capacity and heritage assets for infrastructure load modeling.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Actionable Econometric Insights: </a:t>
            </a:r>
            <a:r>
              <a:rPr sz="1300">
                <a:solidFill>
                  <a:srgbClr val="334155"/>
                </a:solidFill>
              </a:rPr>
              <a:t>Identified high-velocity spenders (Oceania $257.7/day), key inbound destinations (Ernakulam 20.08% foreign share), and airport international loads.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INDIA TOURISM ANALYTICS (2022–2026)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Data Engineering &amp; Domain-Aware Imputation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Type Optimization &amp; Memory Efficiency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172A"/>
                </a:solidFill>
              </a:rPr>
              <a:t>✓ Nullable Int64 Casting: </a:t>
            </a:r>
            <a:r>
              <a:rPr sz="1100">
                <a:solidFill>
                  <a:srgbClr val="334155"/>
                </a:solidFill>
              </a:rPr>
              <a:t>Preserved integer integrity in columns with missing values (e.g. Registered_Hotels_Count) without float conversion (avoiding 12.0).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172A"/>
                </a:solidFill>
              </a:rPr>
              <a:t>✓ Ordered Categoricals: </a:t>
            </a:r>
            <a:r>
              <a:rPr sz="1100">
                <a:solidFill>
                  <a:srgbClr val="334155"/>
                </a:solidFill>
              </a:rPr>
              <a:t>Survey months and airport months cast to chronologically ordered categories for valid seasonal indexing.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172A"/>
                </a:solidFill>
              </a:rPr>
              <a:t>✓ Categorical Conversion: </a:t>
            </a:r>
            <a:r>
              <a:rPr sz="1100">
                <a:solidFill>
                  <a:srgbClr val="334155"/>
                </a:solidFill>
              </a:rPr>
              <a:t>Cast repeated text fields (State_UT, Star_Classification, Architectural_Type) reducing DataFrame memory footprints by up to 16x.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172A"/>
                </a:solidFill>
              </a:rPr>
              <a:t>✓ Datetime Timestamps: </a:t>
            </a:r>
            <a:r>
              <a:rPr sz="1100">
                <a:solidFill>
                  <a:srgbClr val="334155"/>
                </a:solidFill>
              </a:rPr>
              <a:t>Synthesized standardized Year-Month datetime index across monthly aviation movements.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Domain-Aware Missing Value Imputation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172A"/>
                </a:solidFill>
              </a:rPr>
              <a:t>✓ Hierarchical Pincode Mode: </a:t>
            </a:r>
            <a:r>
              <a:rPr sz="1100">
                <a:solidFill>
                  <a:srgbClr val="334155"/>
                </a:solidFill>
              </a:rPr>
              <a:t>Imputed missing establishment pincodes using the statistical mode within the exact district, defaulting to 'Unknown' only if district had zero records.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172A"/>
                </a:solidFill>
              </a:rPr>
              <a:t>✓ Explicit 'Unclassified' Star Tier: </a:t>
            </a:r>
            <a:r>
              <a:rPr sz="1100">
                <a:solidFill>
                  <a:srgbClr val="334155"/>
                </a:solidFill>
              </a:rPr>
              <a:t>Added explicit category token rather than inventing artificial ratings or dropping legitimate hospitality businesses.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172A"/>
                </a:solidFill>
              </a:rPr>
              <a:t>✓ Structural Zero Logic: </a:t>
            </a:r>
            <a:r>
              <a:rPr sz="1100">
                <a:solidFill>
                  <a:srgbClr val="334155"/>
                </a:solidFill>
              </a:rPr>
              <a:t>Assigned ₹0 entry fees to non-ticketed monuments and 0 international passengers to regional airfields.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172A"/>
                </a:solidFill>
              </a:rPr>
              <a:t>✓ Conditional Group Medians: </a:t>
            </a:r>
            <a:r>
              <a:rPr sz="1100">
                <a:solidFill>
                  <a:srgbClr val="334155"/>
                </a:solidFill>
              </a:rPr>
              <a:t>Imputed hotel room counts and tourist survey spend by (State, Category) and (Region, Purpose) clusters.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INDIA TOURISM ANALYTICS (2022–2026)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Foreign Inbound Spending Velocity &amp; Visitor Experience</a:t>
            </a:r>
          </a:p>
        </p:txBody>
      </p:sp>
      <p:pic>
        <p:nvPicPr>
          <p:cNvPr id="4" name="Picture 3" descr="02_inbound_spend_vs_experi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583680" cy="32509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0" y="1554480"/>
            <a:ext cx="3931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Econometric Takeaways: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0F172A"/>
                </a:solidFill>
              </a:rPr>
              <a:t>• Daily Spending Velocity: </a:t>
            </a:r>
            <a:r>
              <a:rPr sz="1100">
                <a:solidFill>
                  <a:srgbClr val="334155"/>
                </a:solidFill>
              </a:rPr>
              <a:t>Visitors from Oceania recorded the highest spend velocity at $257.70/day, followed by Africa ($246.70/day) and the Americas ($224.50/day).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0F172A"/>
                </a:solidFill>
              </a:rPr>
              <a:t>• Satisfaction vs Expenditure: </a:t>
            </a:r>
            <a:r>
              <a:rPr sz="1100">
                <a:solidFill>
                  <a:srgbClr val="334155"/>
                </a:solidFill>
              </a:rPr>
              <a:t>Analysis indicates high spenders (&gt; $6,000 USD) report consistent 8-10 ratings, with business and holiday purpose driving peak NPS.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0F172A"/>
                </a:solidFill>
              </a:rPr>
              <a:t>• Net Promoter Classification: </a:t>
            </a:r>
            <a:r>
              <a:rPr sz="1100">
                <a:solidFill>
                  <a:srgbClr val="334155"/>
                </a:solidFill>
              </a:rPr>
              <a:t>31.9% of South Asian visitors and 28.7% of American travelers classified as Promoters, signaling strong organic word-of-mouth referral dynamics.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0F172A"/>
                </a:solidFill>
              </a:rPr>
              <a:t>• Dwell Time: </a:t>
            </a:r>
            <a:r>
              <a:rPr sz="1100">
                <a:solidFill>
                  <a:srgbClr val="334155"/>
                </a:solidFill>
              </a:rPr>
              <a:t>Average length of stay spans 20 to 26 nights across primary inbound markets.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INDIA TOURISM ANALYTICS (2022–2026)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Aviation Passenger Movements &amp; Airport Gateway Loads</a:t>
            </a:r>
          </a:p>
        </p:txBody>
      </p:sp>
      <p:pic>
        <p:nvPicPr>
          <p:cNvPr id="4" name="Picture 3" descr="01_monthly_airport_passenger_move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583680" cy="2995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0" y="1554480"/>
            <a:ext cx="3931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Aviation Dynamics (2022–2026):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0F172A"/>
                </a:solidFill>
              </a:rPr>
              <a:t>• Monthly Traffic Trajectory: </a:t>
            </a:r>
            <a:r>
              <a:rPr sz="1100">
                <a:solidFill>
                  <a:srgbClr val="334155"/>
                </a:solidFill>
              </a:rPr>
              <a:t>Steady multi-year upward climb from Jan 2022 through 2026, with winter holiday peaks (Nov–Jan) exhibiting sharp seasonality.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0F172A"/>
                </a:solidFill>
              </a:rPr>
              <a:t>• Domestic vs. International: </a:t>
            </a:r>
            <a:r>
              <a:rPr sz="1100">
                <a:solidFill>
                  <a:srgbClr val="334155"/>
                </a:solidFill>
              </a:rPr>
              <a:t>Domestic passenger movements drive ~75-80% of aggregate terminal volume across national airports.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0F172A"/>
                </a:solidFill>
              </a:rPr>
              <a:t>• Top Volume Gateways: </a:t>
            </a:r>
            <a:r>
              <a:rPr sz="1100">
                <a:solidFill>
                  <a:srgbClr val="334155"/>
                </a:solidFill>
              </a:rPr>
              <a:t>Delhi (DEL) leads with 95.7M annual passengers, followed by Mumbai (BOM) at 80.3M and Bengaluru (BLR) at 57.8M.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0F172A"/>
                </a:solidFill>
              </a:rPr>
              <a:t>• High International Exposure: </a:t>
            </a:r>
            <a:r>
              <a:rPr sz="1100">
                <a:solidFill>
                  <a:srgbClr val="334155"/>
                </a:solidFill>
              </a:rPr>
              <a:t>Cochin (COK) (48.4%) and Thiruvananthapuram (TRV) (46.0%) exhibit exceptionally high international dependency ratios.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INDIA TOURISM ANALYTICS (2022–2026)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Top 10 Indian States &amp; UTs by Tourist Footfall (2026)</a:t>
            </a:r>
          </a:p>
        </p:txBody>
      </p:sp>
      <p:pic>
        <p:nvPicPr>
          <p:cNvPr id="4" name="Picture 3" descr="03_top_10_states_footfall_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583680" cy="32509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0" y="1554480"/>
            <a:ext cx="3931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Regional Footfall Dynamics: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0F172A"/>
                </a:solidFill>
              </a:rPr>
              <a:t>• Domestic Heavyweights: </a:t>
            </a:r>
            <a:r>
              <a:rPr sz="1100">
                <a:solidFill>
                  <a:srgbClr val="334155"/>
                </a:solidFill>
              </a:rPr>
              <a:t>Southern and Western states continue to capture massive domestic pilgrimages and business footfalls.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0F172A"/>
                </a:solidFill>
              </a:rPr>
              <a:t>• Inbound Foreign Clusters: </a:t>
            </a:r>
            <a:r>
              <a:rPr sz="1100">
                <a:solidFill>
                  <a:srgbClr val="334155"/>
                </a:solidFill>
              </a:rPr>
              <a:t>Kerala, Tamil Nadu, West Bengal, and Rajasthan demonstrate the highest foreign-to-domestic volume capture ratios.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0F172A"/>
                </a:solidFill>
              </a:rPr>
              <a:t>• Growth Hotspots: </a:t>
            </a:r>
            <a:r>
              <a:rPr sz="1100">
                <a:solidFill>
                  <a:srgbClr val="334155"/>
                </a:solidFill>
              </a:rPr>
              <a:t>Tier-2 cultural and ecological centers registered double-digit annualized growth over the 2022–2026 timeline.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0F172A"/>
                </a:solidFill>
              </a:rPr>
              <a:t>• Infrastructure Stress: </a:t>
            </a:r>
            <a:r>
              <a:rPr sz="1100">
                <a:solidFill>
                  <a:srgbClr val="334155"/>
                </a:solidFill>
              </a:rPr>
              <a:t>Certain high-footfall pilgrimage districts exhibit tight hotel-room to visitor ratios, highlighting immediate private investment opportunity.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INDIA TOURISM ANALYTICS (2022–2026)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Infrastructure Correlation Matrix &amp; Hospitality Segments</a:t>
            </a:r>
          </a:p>
        </p:txBody>
      </p:sp>
      <p:pic>
        <p:nvPicPr>
          <p:cNvPr id="4" name="Picture 3" descr="04_district_infrastructure_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212080" cy="4186024"/>
          </a:xfrm>
          <a:prstGeom prst="rect">
            <a:avLst/>
          </a:prstGeom>
        </p:spPr>
      </p:pic>
      <p:pic>
        <p:nvPicPr>
          <p:cNvPr id="5" name="Picture 4" descr="05_room_tariff_distribution_by_accommo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212080" cy="258031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POLICY ROADMAP &amp; INVESTMENT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Strategic Policy Recommendations &amp; Next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645920"/>
            <a:ext cx="10332720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1. Inbound Density Support for High-Foreign Share Districts</a:t>
            </a:r>
          </a:p>
          <a:p>
            <a:pPr>
              <a:spcBef>
                <a:spcPts val="300"/>
              </a:spcBef>
              <a:defRPr sz="1100">
                <a:solidFill>
                  <a:srgbClr val="E2E8F0"/>
                </a:solidFill>
              </a:defRPr>
            </a:pPr>
            <a:r>
              <a:t>Direct targeted multi-lingual desks, emergency tourist police outposts, and seamless digital international payment rails to high foreign-share hubs (Ernakulam 20.08%, Puri 14.99%).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834640"/>
            <a:ext cx="10332720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2. Targeted Homestay &amp; Bed-and-Breakfast Quality Auditing</a:t>
            </a:r>
          </a:p>
          <a:p>
            <a:pPr>
              <a:spcBef>
                <a:spcPts val="300"/>
              </a:spcBef>
              <a:defRPr sz="1100">
                <a:solidFill>
                  <a:srgbClr val="E2E8F0"/>
                </a:solidFill>
              </a:defRPr>
            </a:pPr>
            <a:r>
              <a:t>Bridge the hospitality audit score gap (homestays average 75.7 vs eco-lodges 79.7) through decentralized district-level certification incentives under NIDHI.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023360"/>
            <a:ext cx="10332720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3. Aviation Capacity Expansion at Diaspora Gateways</a:t>
            </a:r>
          </a:p>
          <a:p>
            <a:pPr>
              <a:spcBef>
                <a:spcPts val="300"/>
              </a:spcBef>
              <a:defRPr sz="1100">
                <a:solidFill>
                  <a:srgbClr val="E2E8F0"/>
                </a:solidFill>
              </a:defRPr>
            </a:pPr>
            <a:r>
              <a:t>Prioritize terminal expansion and international wide-body parking bays at high-exposure regional gateways such as Cochin (48.4% intl) and Thiruvananthapuram (46.0% intl).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212080"/>
            <a:ext cx="10332720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4. Eco-Tourism &amp; Nature Circuit Promotion</a:t>
            </a:r>
          </a:p>
          <a:p>
            <a:pPr>
              <a:spcBef>
                <a:spcPts val="300"/>
              </a:spcBef>
              <a:defRPr sz="1100">
                <a:solidFill>
                  <a:srgbClr val="E2E8F0"/>
                </a:solidFill>
              </a:defRPr>
            </a:pPr>
            <a:r>
              <a:t>Capitalize on highest foreign dwell time (3.0 days) and high spending velocity by funding low-impact green hospitality infrastructure in nature &amp; wildlife corridors.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